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892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9F3B-459B-1903-98C4-17998E82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559B2-469E-6503-D2B1-157E27B66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CC695-5D6F-522F-EA45-E05B94998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A1832-3E80-4ED7-1FD6-61A793EBA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8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4572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ANALYSIS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Child Survival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decades of under-5 mortality, education, and country-level disparities, drawn from the Global Child Survival Tableau dashboard.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82880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Child Survival dashboard (child mortality vs. female education, 146 countries)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six views: global trend, survival, education, geography, and country rankings.</a:t>
            </a:r>
            <a:endParaRPr lang="en-US" sz="1300" dirty="0"/>
          </a:p>
        </p:txBody>
      </p:sp>
      <p:pic>
        <p:nvPicPr>
          <p:cNvPr id="4" name="Image 0" descr="/mnt/user-data/uploads/17895386670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477" y="1371600"/>
            <a:ext cx="9105999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14045" y="1344168"/>
            <a:ext cx="9160863" cy="5175504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2/tren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309360" cy="37953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768" y="1161288"/>
            <a:ext cx="6364224" cy="3850262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7086600" y="502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GLOBAL TREND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822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Six-Decade Decline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830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under-5 mortality fell steadily from ~20.2 in 1950 to ~3.4 in 2010 — an ~83% reduction with no plateau across six decades.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crosses the long-run average (10.1) around 1975–76, marking the halfway point of the decline in time, not in magnitude.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is a smooth, consistent curve with no sudden jumps — this reflects a sustained, structural global improvement rather than a one-off gain.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SURVIVAL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Has Been Near-Ceiling All Along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under-5 survival rate (orange) has stayed close to 97–98% for the entire 1950–2010 window — it was already near its ceiling even in 1950.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mortality (blue) kept falling steadily, from ~20 to ~3.4 — on this compressed scale, a shrinking mortality rate barely moves an already-high survival rate.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survival rate is the wrong metric to watch for progress here — the mortality rate is the more sensitive, more informative indicator.</a:t>
            </a:r>
            <a:endParaRPr lang="en-US" sz="1350" dirty="0"/>
          </a:p>
        </p:txBody>
      </p:sp>
      <p:pic>
        <p:nvPicPr>
          <p:cNvPr id="5" name="Image 0" descr="/home/claude/crops2/survival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188720"/>
            <a:ext cx="5943600" cy="35569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161288"/>
            <a:ext cx="5998464" cy="3611845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rops2/education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309360" cy="37614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768" y="1161288"/>
            <a:ext cx="6364224" cy="3816306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7086600" y="502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EDUCATION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8229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Splits Countries Into Tiers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830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are grouped into three mortality tiers — Low (orange), Medium (red), High (blue) — and both Low and Medium tiers show mortality falling as female education rises.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High-mortality cluster (4 countries, all under 3 years of education) sits far above everyone else, 20–36 on the mortality scale — a distinct, extreme-risk group rather than the tail of a smooth trend.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median of ~7.5 years of education, mortality compresses tightly toward single digits — a visible “floor effect.”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GEOGRAPHY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Burden Is Concentrated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values on the map range from 0.51 to 35.78; the darkest shading — the highest mortality — sits almost entirely across West &amp; Central Africa (Mali, Niger, DRC) with a secondary band through Afghanistan/Pakistan and parts of India.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map is light gray to pale blue, meaning the majority of the 146 countries sit well below the global average of 10.1.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geographically concentrated problem, not a globally distributed one — good news for where targeted investment can have the most impact.</a:t>
            </a:r>
            <a:endParaRPr lang="en-US" sz="1350" dirty="0"/>
          </a:p>
        </p:txBody>
      </p:sp>
      <p:pic>
        <p:nvPicPr>
          <p:cNvPr id="5" name="Image 0" descr="/home/claude/crops2/ma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1188720"/>
            <a:ext cx="6126480" cy="36427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161288"/>
            <a:ext cx="6181344" cy="3697636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COUNTRY RANKING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 Leads the Highest-Risk List</a:t>
            </a:r>
            <a:endParaRPr lang="en-US" sz="2700" dirty="0"/>
          </a:p>
        </p:txBody>
      </p:sp>
      <p:pic>
        <p:nvPicPr>
          <p:cNvPr id="4" name="Image 0" descr="/home/claude/crops2/top10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11274552" cy="3465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" y="1298448"/>
            <a:ext cx="11329416" cy="3519939"/>
          </a:xfrm>
          <a:prstGeom prst="rect">
            <a:avLst/>
          </a:prstGeom>
          <a:ln w="12700">
            <a:solidFill>
              <a:srgbClr val="D7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selected year (1995), Niger (26.94), Sierra Leone (25.50) and Liberia (24.09) top the list — roughly 2.5x the era's global average of 10.1.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10 highest-mortality countries are in Sub-Saharan Africa; only Afghanistan and Yemen fall outside the region.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lowest of this top 10, Yemen (11.14), still sits above the global average — this is a distinct high-risk tier, not a gradual tail.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SELECTED YEAR 1995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0F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50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0F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03320" y="208483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1188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Female Education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950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global avg.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0F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29400" y="208483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53796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Under-5 Mortality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950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avg., all years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0F4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55480" y="208483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46404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1995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Year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9502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9768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928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progress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9424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under-5 mortality has fallen ~83% since 1950 (20.2 → 3.4), with a smooth, uninterrupted decline.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63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was already near-ceiling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1985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survival rate sat at ~97–98% for the whole 1950–2010 span — mortality, not survival, is the metric that reveals real change.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2336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a strong lever with an outlier tier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59028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 and Medium-mortality countries show mortality falling as female education rises; a small High-mortality cluster (under 3 yrs education) is a distinct extreme-risk group.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431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041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geographically concentrated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760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highest-mortality countries cluster in West &amp; Central Africa, led by Niger (26.9), Sierra Leone (25.5), and Liberia (24.1) in 1995.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Child Survival  •  Tableau Dashboard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1957-B12F-ECFA-2945-C83AE388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F74809-FAEE-87F7-A951-65CEADC808D4}"/>
              </a:ext>
            </a:extLst>
          </p:cNvPr>
          <p:cNvSpPr/>
          <p:nvPr/>
        </p:nvSpPr>
        <p:spPr>
          <a:xfrm>
            <a:off x="9418320" y="-1188720"/>
            <a:ext cx="4754880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6893FA-85A4-4B38-2207-0528470C1B3E}"/>
              </a:ext>
            </a:extLst>
          </p:cNvPr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4572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24E9AD-186C-E0F6-BFDF-71CDD5F812E4}"/>
              </a:ext>
            </a:extLst>
          </p:cNvPr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Child Survival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57BEB3-EEA8-0278-6C2E-031AFD4A9030}"/>
              </a:ext>
            </a:extLst>
          </p:cNvPr>
          <p:cNvSpPr txBox="1"/>
          <p:nvPr/>
        </p:nvSpPr>
        <p:spPr>
          <a:xfrm>
            <a:off x="4846319" y="2834639"/>
            <a:ext cx="23289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 </a:t>
            </a:r>
            <a:endParaRPr lang="en-US" sz="2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39AD875-4CB0-6111-C59F-9282D56CB2C5}"/>
              </a:ext>
            </a:extLst>
          </p:cNvPr>
          <p:cNvSpPr/>
          <p:nvPr/>
        </p:nvSpPr>
        <p:spPr>
          <a:xfrm>
            <a:off x="822960" y="5989320"/>
            <a:ext cx="182880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BE32ED3-1DC4-0E90-8107-5CFF7A5BC112}"/>
              </a:ext>
            </a:extLst>
          </p:cNvPr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 Child Survival dashboard (child mortality vs. female education, 146 countries)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6996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832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M Paul</cp:lastModifiedBy>
  <cp:revision>2</cp:revision>
  <dcterms:created xsi:type="dcterms:W3CDTF">2026-09-16T06:13:11Z</dcterms:created>
  <dcterms:modified xsi:type="dcterms:W3CDTF">2026-09-16T07:09:15Z</dcterms:modified>
</cp:coreProperties>
</file>